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2328"/>
                </a:solidFill>
              </a:defRPr>
            </a:pPr>
            <a:r>
              <a:t>勒索病毒发展历程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A737D"/>
                </a:solidFill>
              </a:defRPr>
            </a:pPr>
            <a:r>
              <a:t>29 家族 · 12 年时间线 · RaaS 经济模型 · 防御体系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737D"/>
                </a:solidFill>
              </a:defRPr>
            </a:pPr>
            <a:r>
              <a:t>Hermes Agent · 2026-06-27 · 3-agent parallel + cross-verified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8"/>
                </a:solidFill>
              </a:defRPr>
            </a:pPr>
            <a:r>
              <a:t>关键数据 2024-2026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【关键数据 2024-2026】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29 个主流家族 (覆盖 2013-2025)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2024 全球赎金支付: $8.14 亿 (Chainalysis)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2024 支付同比 -35%, 但攻击数 +47%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76% 部署在非工作时段 (Mandiant)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30% 案例在初始访问 48h 内部署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初始访问均价 (IAB): $5,400 (2020) → $439 (2026 Q1, 崩盘)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RaaS 分成反转: 顶级 Affiliate 拿 85-90% (2026)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MITRE ATT&amp;CK 中勒索软件专属 TTP: T1486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【来源】40 个权威源, 全部 web_extract 验证, 详见文档 §9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A737D"/>
                </a:solidFill>
              </a:defRPr>
            </a:pPr>
            <a:r>
              <a:t>来源: Chainalysis 2024 + Mandiant M-Trends + MITRE ATT&amp;CK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8"/>
                </a:solidFill>
              </a:defRPr>
            </a:pPr>
            <a:r>
              <a:t>12 年时间线 (2013-2025)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【12 年时间线】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2013-09  CryptoLocker 出现 (GameOver ZeuS 传播)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2016      Locky / Cerber (RaaS 模式萌芽)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2017-05  WannaCry 全球爆发 (NHS 瘫痪, 蠕虫传播)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2017-06  NotPetya 国家级擦除器 (Maersk/Merck $100亿)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2018-08  Ryuk "Big Game Hunting" (Wizard Spider)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2019-05  Maze 首创 "双重勒索" (加密 + 泄露威胁)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2019-12  Conti 出现 (后续成最大 RaaS 之一)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2020-05  DarkSide 攻击 Colonial Pipeline (美国国家级响应)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2021-11  BlackCat 首款 Rust 写勒索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2022-06  LockBit 3.0 (引入 ESXi 加密 + 三重勒索)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2023-01  Hive 被 FBI 拆除 (Operation Cronos)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2023-03  Akira 出现, 一年内变顶级 RaaS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2024-02  LockBit Cronos 行动 + ALPHV 退出骗局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2024-06  DragonForce 从私域转 RaaS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2025      RaaS 分成反转, cartel 模式兴起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A737D"/>
                </a:solidFill>
              </a:defRPr>
            </a:pPr>
            <a:r>
              <a:t>完整版本见图 2.1 + §4 全表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8"/>
                </a:solidFill>
              </a:defRPr>
            </a:pPr>
            <a:r>
              <a:t>5 大转折点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【勒索病毒"五大转折点"】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1️⃣ 2017 WannaCry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蠕虫 + SMB 漏洞, NHS/医院大瘫痪, 首次勒索全球关注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→ MITRE S0366 / CISA TA17-132A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2️⃣ 2019 Maze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首次"双重勒索" — 加密 + 泄露数据威胁,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攻击者有了不依赖备份的筹码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→ CISA AA20-352A / MITRE S0449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3️⃣ 2020 DarkSide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Colonial Pipeline 关闭,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首次勒索触发美国国家级响应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→ MITRE S0565 / Mandiant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4️⃣ 2023 LockBit 3.0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三重勒索 + VMware ESXi 加密,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单点打穿全虚拟化舰队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→ CISA AA23-165A / MITRE S1202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5️⃣ 2024-2025 Akira/RansomHub/Qilin/DragonForce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跨平台 Rust 重写 + 联盟化 "cartel" 模式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→ MITRE S1129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A737D"/>
                </a:solidFill>
              </a:defRPr>
            </a:pPr>
            <a:r>
              <a:t>详细 RaaS 4 角色产业链见图 5.1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8"/>
                </a:solidFill>
              </a:defRPr>
            </a:pPr>
            <a:r>
              <a:t>勒索模式: 单→双→三→四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【勒索模式演变: 单 → 双 → 三 → 四 重】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▸ 单重 (2013-2019):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手段: 加密文件 / 筹码: 解密密钥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弱点: 备份可拒绝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▸ 双重 (2019-): Maze/REvil/Conti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1. 加密 + 2. 窃取数据威胁泄露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备份 + DLP 都要有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▸ 三重 (2023-): LockBit 3.0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1. 加密 + 2. 泄露 + 3. DDoS 受害者服务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需 DDoS 防护 + 备份 + DLP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▸ 四重 (2024+): BlackCat/Clop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1. 加密 + 2. 泄露 + 3. DDoS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4. 通知客户/监管 (GDPR/HIPAA 罚款)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需 PR + 法律 + IR 全套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A737D"/>
                </a:solidFill>
              </a:defRPr>
            </a:pPr>
            <a:r>
              <a:t>防御体系见图 8.1 (NIST CSF 5 阶段)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8"/>
                </a:solidFill>
              </a:defRPr>
            </a:pPr>
            <a:r>
              <a:t>RaaS 4 角色经济模型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【RaaS 4 角色产业链 (2024 vs 2026)】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① Stealer 凭据收割 ($3-50/凭据)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↓ 出售访问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② IAB 初始访问经纪人 ($439/目标, 2026 Q1 崩盘)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↓ 转售访问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③ Affiliate 附属机构 (实际入侵)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分成: 70-80% (2024) → 85-90% (2026)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↓ 部署 + 谈判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④ Operator 运营 (Locker + 泄露站)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分成: 20-30% (2024) → 10-15% (2026)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【反脆弱结构】4 角色解耦, 一层倒其他不受影响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- LockBit 倒, Affiliate 立即投 Qilin/DragonForce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- DragonForce 2025 创新: "Cartel"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A737D"/>
                </a:solidFill>
              </a:defRPr>
            </a:pPr>
            <a:r>
              <a:t>分成反转 + IAB 价格崩盘 = 行业洗牌中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8"/>
                </a:solidFill>
              </a:defRPr>
            </a:pPr>
            <a:r>
              <a:t>8 阶段攻击链 (勒索特化版)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【8 阶段攻击链 (勒索特化版)】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① 初始入侵  T1566/T1190/T1133  → 数小时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② 立足点    T1059/T1547           → 几小时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③ 权限提升  T1068/T1003.001     → 1-8 小时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④ 横向移动  T1021.002/T1570      → 数小时-数周 (潜伏期)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⑤ 数据窃取  T1005/T1567          ⭐ 双重勒索关键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⑥ 数据加密  T1486/T1490          ⭐ 核心 TTP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⑦ 勒索通知  T1491.001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⑧ 数据泄露  T1567.002             ⭐ 三/四重勒索施压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【关键时间窗 (Mandiant 2024)】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76% 非工作时段部署 / 30% 案例 48h 内部署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准备 6.6 天 → 横向 2.5 天 → 加密 1.3 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A737D"/>
                </a:solidFill>
              </a:defRPr>
            </a:pPr>
            <a:r>
              <a:t>防御需 5 层覆盖 (NIST CSF 2.0)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8"/>
                </a:solidFill>
              </a:defRPr>
            </a:pPr>
            <a:r>
              <a:t>MITRE T1486 核心监测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【T1486 (Data Encrypted for Impact) - 勒索核心】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勒索软件唯一专属的核心 TTP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攻击者必须依赖此技术施加压力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【T1486 关键监测信号】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文件加密率突增 (正常进程不加密用户文档)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vssadmin / wbadmin / bcdedit 命令执行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影子副本删除 (vssadmin delete shadows /all)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异常服务停止 (数据库/备份进程被 kill)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【其他核心 TTP】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T1490 抑制系统恢复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T1485 数据销毁 (NotPetya 风格)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T1489 服务停止 (终止备份/数据库)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T1491.001 内部破坏 (改桌面壁纸/Print bombing)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T1567.002 外泄到云存储 (StealBit → Mega)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A737D"/>
                </a:solidFill>
              </a:defRPr>
            </a:pPr>
            <a:r>
              <a:t>完整 14 战术见 §7 全表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8"/>
                </a:solidFill>
              </a:defRPr>
            </a:pPr>
            <a:r>
              <a:t>5 阶段防御体系 (NIST CSF 2.0)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【NIST CSF 2.0 5 阶段防御】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① Identify 资产清单 + 风险评估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→ CSF 2.0 ID.AM / ID.RA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② Protect 预防 + 加固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→ MFA + 3-2-1 备份 + 邮件安全 + 漏洞管理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③ Detect 检测 (EDR + SIEM + UEBA)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→ T1486/T1490 加密命令告警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④ Respond 隔离 + 取证 + 通报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→ NIST SP 800-61 Rev. 3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⑤ Recover 备份恢复 (3-2-1)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   → 不可变备份 (S3 Object Lock)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【关键: 检测规则仓库 (已验证)】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Sigma Rules · Yara-Rules · ReversingLabs · Trellix ATR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Emerging Threats · Elastic Protections · abuse.ch YARAhub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A737D"/>
                </a:solidFill>
              </a:defRPr>
            </a:pPr>
            <a:r>
              <a:t>检测规则 URL 全部已验证 (见 §9.4)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8"/>
                </a:solidFill>
              </a:defRPr>
            </a:pPr>
            <a:r>
              <a:t>应急响应清单 + 40 权威源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【应急响应 4 阶段 (CISA I've Been Hit)】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① Detection &amp; Analysis: 确认勒索, 评估范围, 查泄露站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② Containment: 隔离, 阻断 C2, 切断横向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③ Eradication &amp; Recovery: 重建, 恢复 3-2-1 备份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④ Post-Incident: 通报 FBI/CISA, GDPR 报告, RCA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【关键决策: 付不付赎金?】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⚠️ CISA / FBI / NSA: &lt;strong&gt;不推荐支付&lt;/strong&gt;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理由: 不保证恢复 / 鼓励犯罪 / 可能 OFAC 制裁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【40 个权威源 (全部验证)】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MITRE · CISA · FBI · NIST · CrowdStrike · Mandiant · Unit 42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Talos · Sekoia · Trend · Kaspersky · Sophos · ESET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Sigma · Yara-Rules · ReversingLabs · Trellix · abuse.ch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【完整下载 (同目录)】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ransomware_families.csv  • ransomware_authoritative_sources.csv</a:t>
            </a:r>
          </a:p>
          <a:p>
            <a:pPr>
              <a:spcAft>
                <a:spcPts val="600"/>
              </a:spcAft>
              <a:defRPr sz="1400">
                <a:solidFill>
                  <a:srgbClr val="1F2328"/>
                </a:solidFill>
              </a:defRPr>
            </a:pPr>
            <a:r>
              <a:t>• ransomware_intel.json    • ransomware-landscape.html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A737D"/>
                </a:solidFill>
              </a:defRPr>
            </a:pPr>
            <a:r>
              <a:t>完整 URL 列表见 §9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